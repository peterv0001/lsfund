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warm. This is about building a business by helping local merchants. One sentence: 'LeaderShield gives everyday businesses the growth tools and capital big companies have — and pays you well for connecting them.' Then ask permission to walk them through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pain your prospect already sees in their own community: local businesses that should be thriving but can't get the tools or the capital. This is the gap LeaderShield was built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problem to opportunity. The agent IS the solution — the local relationship. Emphasize alignment: you only do well when the merchant does well. That honesty is what makes this sustainable and easy to talk about.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engines, one ecosystem. Capital (funding), Growth Platform (software), Distribution (you and the network). The key line: you can earn across all three — most successful agents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up the product ladder — there's a fit for every merchant, and a natural reason to upgrade them over time. Point out the flagship (Revenue Growth System). Then: beyond software, you can connect them to capital — a second way to serve and 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income streams. Recurring is the wealth-builder (residuals). Funding is the upfront cash. Overrides are the leverage. Most agents earn from more than one — together they create immediate cash flow AND long-term income.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and confident. 60% is the real top rate on premium subscriptions. Residuals mean your past work keeps paying. Funding adds upfront cash. ALWAYS deliver the disclaimer — no income promises. Point serious prospects to the Commission Guide for full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differentiation. It's ownership, not employment. It's merit-based and immediate. The products are real. And you're freed to do what you're good at — relationships — because partners handle the tech.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Help them see themselves here. Read a couple of the 'for you if' lines that fit them specifically. Reassure: no special background needed — drive and relationships matter more than a résumé. We train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it feel easy and supported. Five simple steps. The biggest one is step 3 — start with warm relationships. Reassure them they won't be dropped in the deep end; there's training and a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a clear, low-pressure ask: the next step is just a conversation. Offer to answer questions now, and set a specific time to follow up. Hand them the Business Overview as a leave-behind.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457200"/>
            <a:ext cx="1371600" cy="1371600"/>
          </a:xfrm>
          <a:prstGeom prst="ellipse">
            <a:avLst/>
          </a:prstGeom>
          <a:solidFill>
            <a:srgbClr val="F7F0DC"/>
          </a:solidFill>
          <a:ln w="28575">
            <a:solidFill>
              <a:srgbClr val="C9A23F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3" name="Image 0" descr="/home/claude/build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1950" y="662940"/>
            <a:ext cx="80010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74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8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LEADERSHIELD</a:t>
            </a:r>
            <a:pPr algn="ctr" indent="0" marL="0">
              <a:buNone/>
            </a:pPr>
            <a:r>
              <a:rPr lang="en-US" sz="100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™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 &amp; AGENT OPPORTUNITY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2596896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Business That Matters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457200" y="360273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local businesses grow — and grow right alongside them.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429000" y="4114800"/>
            <a:ext cx="960120" cy="0"/>
          </a:xfrm>
          <a:prstGeom prst="line">
            <a:avLst/>
          </a:prstGeom>
          <a:noFill/>
          <a:ln w="15875">
            <a:solidFill>
              <a:srgbClr val="C9A23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4114800"/>
            <a:ext cx="960120" cy="0"/>
          </a:xfrm>
          <a:prstGeom prst="line">
            <a:avLst/>
          </a:prstGeom>
          <a:noFill/>
          <a:ln w="15875">
            <a:solidFill>
              <a:srgbClr val="C9A23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434840" y="40050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3F"/>
                </a:solidFill>
              </a:rPr>
              <a:t>◆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3159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 ____________________   ·   VP of Sales, LeaderShield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businesses, held back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by a lack of ambition — by a lack of access.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9596" y="2112264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232257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44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growth technology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85800" y="35387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marketing, visibility, and AI tools big companies rely on are out of reach for most small businesses.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28516" y="2112264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28" y="232257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044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access to capital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474720" y="35387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lenders are slow and restrictive, starving good businesses of the working capital they need.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17436" y="2112264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2322576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4495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trusted guide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263640" y="353872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 are left to navigate a confusing landscape alone — with no one truly in their corner.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That gap is your opportunity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800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LeaderShield closes the gap through people — a nationwide network of independent agents who build genuine, local relationships with the businesses they serve.</a:t>
            </a:r>
            <a:endParaRPr lang="en-US" sz="15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become the trusted guide. You connect merchants to enterprise-grade growth tools and the capital they need to seize their next opportunity — and you're rewarded every step of the way.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623560" y="1554480"/>
            <a:ext cx="3063240" cy="2651760"/>
          </a:xfrm>
          <a:prstGeom prst="roundRect">
            <a:avLst>
              <a:gd name="adj" fmla="val 2759"/>
            </a:avLst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0" y="2212848"/>
            <a:ext cx="2606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 merchant grows, </a:t>
            </a:r>
            <a:endParaRPr lang="en-US" sz="2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grow too.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852160" y="324612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winning at the merchant's expense. Everyone moves forward together — that alignment is the whole point.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ecosystem, three engines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as an agent, you can earn across all three.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39596" y="2112264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2322576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044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" y="34838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merchants to working capital through funding — fast, flexible, and built for real businesses.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4612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128516" y="2112264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8828" y="2322576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29000" y="3044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Platform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3474720" y="34838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suite of software products that help merchants attract customers, get organized, and scale.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035040" y="196596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917436" y="2112264"/>
            <a:ext cx="841248" cy="841248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2322576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3044952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263640" y="34838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network — the trusted relationships and leadership that bring it all to merchants nationwide.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OFFER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merchants need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E6E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GROWTH PLATFORM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5F8FB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58368" y="1847088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2066544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Affordable entry point — lead generation and a first taste of growth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404872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5F8FB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" y="2468880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Foundation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" y="2688336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Visibility and structure to support steady, sustainable growth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3026664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7F0D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3090672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Growth System  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8368" y="3310128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— the core growth engine most merchants build 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648456"/>
            <a:ext cx="5120640" cy="530352"/>
          </a:xfrm>
          <a:prstGeom prst="roundRect">
            <a:avLst>
              <a:gd name="adj" fmla="val 10345"/>
            </a:avLst>
          </a:prstGeom>
          <a:solidFill>
            <a:srgbClr val="F5F8FB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3712464"/>
            <a:ext cx="4718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Scale AI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8368" y="3931920"/>
            <a:ext cx="4718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Premium, AI-driven scale for established merchants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06440" y="1783080"/>
            <a:ext cx="2880360" cy="2496312"/>
          </a:xfrm>
          <a:prstGeom prst="roundRect">
            <a:avLst>
              <a:gd name="adj" fmla="val 2930"/>
            </a:avLst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0" y="1943100"/>
            <a:ext cx="777240" cy="777240"/>
          </a:xfrm>
          <a:prstGeom prst="ellipse">
            <a:avLst/>
          </a:prstGeom>
          <a:solidFill>
            <a:srgbClr val="0C2438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2310" y="2137410"/>
            <a:ext cx="388620" cy="3886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989320" y="27889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FUNDING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035040" y="31089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merchants to the working capital they need — and earn upfront commissions when they're funded.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ways to get paid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970532"/>
            <a:ext cx="868680" cy="868680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3050" y="2187702"/>
            <a:ext cx="434340" cy="4343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Income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85800" y="341071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commissions on every active subscription — building into lifetime residual income.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46120" y="178308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970532"/>
            <a:ext cx="868680" cy="868680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2187702"/>
            <a:ext cx="434340" cy="4343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2900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Commissions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3474720" y="341071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Larger, upfront pay each time a merchant you serve receives capital.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035040" y="1783080"/>
            <a:ext cx="2606040" cy="26974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903720" y="1970532"/>
            <a:ext cx="868680" cy="868680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890" y="2187702"/>
            <a:ext cx="434340" cy="4343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97180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Overrides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6263640" y="3410712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on the production of the agents you recruit, develop, and lead.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UPSIDE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income potential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167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 to 60%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commission rate on premium subscriptions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4612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67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Lifetime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747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 income on the book you build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72200" y="2167128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Upfront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6364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 commissions on every funded deal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of the commission structure — the full rates are in the Agent Commission Guide. </a:t>
            </a:r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Income is not guaranteed and depends on your effort, your market, and your consistency.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THIS, WHY NOW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job. A business you own.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0664" y="1883664"/>
            <a:ext cx="713232" cy="713232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" y="206197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own it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00200" y="213055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asset, not a paycheck. Stay independent or build a team — your choice.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46904" y="1883664"/>
            <a:ext cx="713232" cy="713232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212" y="206197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06440" y="180136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Merit, every month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5806440" y="213055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Levels recalculate monthly, so a strong month lifts your income right away.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0664" y="3300984"/>
            <a:ext cx="713232" cy="713232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34792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2186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products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600200" y="35478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solve problems merchants genuinely have. No hype, no gimmicks.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663440" y="301752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946904" y="3300984"/>
            <a:ext cx="713232" cy="713232"/>
          </a:xfrm>
          <a:prstGeom prst="ellipse">
            <a:avLst/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212" y="3479292"/>
            <a:ext cx="356616" cy="3566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06440" y="321868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 relationships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5806440" y="354787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 handle the technology — you focus entirely on people.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THRIVES HERE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this you?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to own your time and income — not trade hours for a fixed paycheck.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39696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21214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a relationship-builder: sales, financial services, insurance, or your community.</a:t>
            </a:r>
            <a:endParaRPr lang="en-US" sz="13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06624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268833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want recurring income and a long-term asset, not just a one-time payout.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73552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112" y="32552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motivated by helping real businesses grow.</a:t>
            </a:r>
            <a:endParaRPr lang="en-US" sz="13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84048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6112" y="38221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E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You'd like the option to build and lead a team over time.</a:t>
            </a:r>
            <a:endParaRPr lang="en-US" sz="1350" dirty="0"/>
          </a:p>
        </p:txBody>
      </p:sp>
      <p:sp>
        <p:nvSpPr>
          <p:cNvPr id="14" name="Shape 7"/>
          <p:cNvSpPr/>
          <p:nvPr/>
        </p:nvSpPr>
        <p:spPr>
          <a:xfrm>
            <a:off x="5715000" y="1554480"/>
            <a:ext cx="2971800" cy="2743200"/>
          </a:xfrm>
          <a:prstGeom prst="roundRect">
            <a:avLst>
              <a:gd name="adj" fmla="val 2667"/>
            </a:avLst>
          </a:prstGeom>
          <a:solidFill>
            <a:srgbClr val="16395C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5" name="Shape 8"/>
          <p:cNvSpPr/>
          <p:nvPr/>
        </p:nvSpPr>
        <p:spPr>
          <a:xfrm>
            <a:off x="6789420" y="1737360"/>
            <a:ext cx="822960" cy="822960"/>
          </a:xfrm>
          <a:prstGeom prst="ellipse">
            <a:avLst/>
          </a:prstGeom>
          <a:solidFill>
            <a:srgbClr val="0C2438"/>
          </a:solidFill>
          <a:ln/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1943100"/>
            <a:ext cx="411480" cy="4114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897880" y="26974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VALUE MOST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5943600" y="301752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4000"/>
              </a:lnSpc>
              <a:buNone/>
            </a:pPr>
            <a:r>
              <a:rPr lang="en-US" sz="125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Integrity, consistency, and a real desire to serve merchants. No special background required — we provide the products, training, and support.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A7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PATH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C24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Getting started is simple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50392" y="1874520"/>
            <a:ext cx="768096" cy="768096"/>
          </a:xfrm>
          <a:prstGeom prst="ellipse">
            <a:avLst/>
          </a:prstGeom>
          <a:solidFill>
            <a:srgbClr val="16395C"/>
          </a:solidFill>
          <a:ln w="19050">
            <a:solidFill>
              <a:srgbClr val="C9A23F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911096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" y="3118104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and activate your membership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874520"/>
            <a:ext cx="768096" cy="768096"/>
          </a:xfrm>
          <a:prstGeom prst="ellipse">
            <a:avLst/>
          </a:prstGeom>
          <a:solidFill>
            <a:srgbClr val="16395C"/>
          </a:solidFill>
          <a:ln w="19050">
            <a:solidFill>
              <a:srgbClr val="C9A23F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911096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121408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103120" y="3118104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onboarding &amp; product training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78808" y="1874520"/>
            <a:ext cx="768096" cy="768096"/>
          </a:xfrm>
          <a:prstGeom prst="ellipse">
            <a:avLst/>
          </a:prstGeom>
          <a:solidFill>
            <a:srgbClr val="16395C"/>
          </a:solidFill>
          <a:ln w="19050">
            <a:solidFill>
              <a:srgbClr val="C9A23F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78808" y="1911096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785616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67328" y="3118104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 with businesses you already know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43016" y="1874520"/>
            <a:ext cx="768096" cy="768096"/>
          </a:xfrm>
          <a:prstGeom prst="ellipse">
            <a:avLst/>
          </a:prstGeom>
          <a:solidFill>
            <a:srgbClr val="16395C"/>
          </a:solidFill>
          <a:ln w="19050">
            <a:solidFill>
              <a:srgbClr val="C9A23F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43016" y="1911096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449824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31536" y="3118104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subscriptions &amp; connect funding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07224" y="1874520"/>
            <a:ext cx="768096" cy="768096"/>
          </a:xfrm>
          <a:prstGeom prst="ellipse">
            <a:avLst/>
          </a:prstGeom>
          <a:solidFill>
            <a:srgbClr val="16395C"/>
          </a:solidFill>
          <a:ln w="19050">
            <a:solidFill>
              <a:srgbClr val="C9A23F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07224" y="1911096"/>
            <a:ext cx="7680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7114032" y="2788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4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95744" y="3118104"/>
            <a:ext cx="15910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and lead to multiply income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63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never alone — every step comes with training, tools, and a team behind you.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566928"/>
            <a:ext cx="1097280" cy="1097280"/>
          </a:xfrm>
          <a:prstGeom prst="ellipse">
            <a:avLst/>
          </a:prstGeom>
          <a:solidFill>
            <a:srgbClr val="F7F0DC"/>
          </a:solidFill>
          <a:ln w="25400">
            <a:solidFill>
              <a:srgbClr val="C9A23F"/>
            </a:solidFill>
            <a:prstDash val="solid"/>
          </a:ln>
          <a:effectLst>
            <a:outerShdw sx="100000" sy="100000" kx="0" ky="0" algn="bl" rotWithShape="0" blurRad="114300" dist="38100" dir="5400000">
              <a:srgbClr val="0C2438">
                <a:alpha val="16000"/>
              </a:srgbClr>
            </a:outerShdw>
          </a:effectLst>
        </p:spPr>
      </p:sp>
      <p:pic>
        <p:nvPicPr>
          <p:cNvPr id="3" name="Image 0" descr="/home/claude/build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731520"/>
            <a:ext cx="640080" cy="7680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8308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build something together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457200" y="2852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9A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next step is a simple conversation.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33101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AF0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 to the LeaderShield agent who invited you — they'll walk you through the next steps and help you get started.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429000" y="4114800"/>
            <a:ext cx="960120" cy="0"/>
          </a:xfrm>
          <a:prstGeom prst="line">
            <a:avLst/>
          </a:prstGeom>
          <a:noFill/>
          <a:ln w="15875">
            <a:solidFill>
              <a:srgbClr val="C9A23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754880" y="4114800"/>
            <a:ext cx="960120" cy="0"/>
          </a:xfrm>
          <a:prstGeom prst="line">
            <a:avLst/>
          </a:prstGeom>
          <a:noFill/>
          <a:ln w="15875">
            <a:solidFill>
              <a:srgbClr val="C9A23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400507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23F"/>
                </a:solidFill>
              </a:rPr>
              <a:t>◆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2793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6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LEADERSHIELD</a:t>
            </a:r>
            <a:pPr algn="ctr" indent="0" marL="0">
              <a:buNone/>
            </a:pPr>
            <a:r>
              <a:rPr lang="en-US" sz="1200" dirty="0">
                <a:solidFill>
                  <a:srgbClr val="5C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Agent Opportunity  ·  2026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LeaderShield Opportunity</dc:title>
  <dc:subject>PptxGenJS Presentation</dc:subject>
  <dc:creator>LeaderShield</dc:creator>
  <cp:lastModifiedBy>LeaderShield</cp:lastModifiedBy>
  <cp:revision>1</cp:revision>
  <dcterms:created xsi:type="dcterms:W3CDTF">2026-06-18T18:08:18Z</dcterms:created>
  <dcterms:modified xsi:type="dcterms:W3CDTF">2026-06-18T18:08:18Z</dcterms:modified>
</cp:coreProperties>
</file>